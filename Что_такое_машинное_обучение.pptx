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пешеход</c:v>
                </c:pt>
              </c:strCache>
            </c:strRef>
          </c:tx>
          <c:spPr>
            <a:solidFill>
              <a:srgbClr val="9A9AA3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E6E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длина, м</c:v>
                  </c:pt>
                  <c:pt idx="1">
                    <c:v>скорость, 10 км/ч</c:v>
                  </c:pt>
                  <c:pt idx="2">
                    <c:v>расстояние, 10 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</c:v>
                </c:pt>
                <c:pt idx="1">
                  <c:v>0.529</c:v>
                </c:pt>
                <c:pt idx="2">
                  <c:v>4.369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велосипедист</c:v>
                </c:pt>
              </c:strCache>
            </c:strRef>
          </c:tx>
          <c:spPr>
            <a:solidFill>
              <a:srgbClr val="1C1C22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E6E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длина, м</c:v>
                  </c:pt>
                  <c:pt idx="1">
                    <c:v>скорость, 10 км/ч</c:v>
                  </c:pt>
                  <c:pt idx="2">
                    <c:v>расстояние, 10 м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1.75</c:v>
                </c:pt>
                <c:pt idx="1">
                  <c:v>1.413</c:v>
                </c:pt>
                <c:pt idx="2">
                  <c:v>4.4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автомобиль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6E6E7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длина, м</c:v>
                  </c:pt>
                  <c:pt idx="1">
                    <c:v>скорость, 10 км/ч</c:v>
                  </c:pt>
                  <c:pt idx="2">
                    <c:v>расстояние, 10 м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3.6</c:v>
                </c:pt>
                <c:pt idx="1">
                  <c:v>1.521</c:v>
                </c:pt>
                <c:pt idx="2">
                  <c:v>4.406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700" u="none">
                  <a:solidFill>
                    <a:srgbClr val="6E6E7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E6E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обычное разбиение</c:v>
                </c:pt>
              </c:strCache>
            </c:strRef>
          </c:tx>
          <c:spPr>
            <a:solidFill>
              <a:srgbClr val="9A9A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</c:v>
                </c:pt>
                <c:pt idx="1">
                  <c:v>3</c:v>
                </c:pt>
                <c:pt idx="2">
                  <c:v>4</c:v>
                </c:pt>
                <c:pt idx="3">
                  <c:v>3</c:v>
                </c:pt>
                <c:pt idx="4">
                  <c:v>6</c:v>
                </c:pt>
                <c:pt idx="5">
                  <c:v>2</c:v>
                </c:pt>
                <c:pt idx="6">
                  <c:v>2</c:v>
                </c:pt>
                <c:pt idx="7">
                  <c:v>1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стратифицированное</c:v>
                </c:pt>
              </c:strCache>
            </c:strRef>
          </c:tx>
          <c:spPr>
            <a:solidFill>
              <a:srgbClr val="B8AB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3</c:v>
                </c:pt>
                <c:pt idx="9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E7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E78"/>
                    </a:solidFill>
                    <a:latin typeface="Arial"/>
                  </a:rPr>
                  <a:t>зерно разбиения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6E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2E2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E6E78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6E6E78"/>
                    </a:solidFill>
                    <a:latin typeface="Arial"/>
                  </a:rPr>
                  <a:t>велосипедистов в тесте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E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6E6E7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Первое занятие курса. Представьтесь и скажите, чем мы будем заниматься весь год: учить компьютер находить правила по примерам. Сквозная тема курса – беспилотный транспорт: на картинке справа настоящие данные из нашей практики, каждая точка – объект на дороге, по горизонтали его скорость, по вертикали длина; серые – пешеходы, белые – велосипедисты, золотые – автомобили. Спросите: какие группы точек вы видите и где их границы трудно провести? Сегодня три вопроса: что такое машинное обучение, как устроены данные и зачем их делить на выборки. На практике каждый сам напишет функции, которые в следующих работах будут стоять в готовой ячейке в самом начале.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классу 3 минуты: пусть в парах напишут правило в виде «если …, то …», по которому беспилотник отличит пешехода от велосипедиста по скорости и длине объекта. Соберите варианты на доске, например «если скорость больше 10 км/ч – велосипедист». Покажите контрпримеры: велосипедист, который стоит на светофоре или ведет велосипед рядом; бегущий человек; ребенок на самокате. На картинке настоящие данные: серые (пешеходы) и белые (велосипедисты) точки заходят друг на друга, и одной границы нет. Вывод: правило есть, но придумать его словами очень трудно – а по примерам компьютер может найти его сам. Это и есть машинное обучение.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01. Скажите, что сейчас дадим определение, разберемся, чем машинное обучение отличается от обычного программирования, и посмотрим, какими бывают задачи.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Нарисуйте две схемы на доске. Обычное программирование: человек пишет правила, компьютер применяет их к данным и выдает ответы. Машинное обучение: человек дает данные и правильные ответы, компьютер сам находит правила – модель. Затем модель применяют к новым данным. Подчеркните: машинное обучение не «умнее» программирования, это другой способ получить правило. Если правило простое и известно (расчет сдачи, перевод км/ч в м/с), его проще написать. Если правило сложно выразить словами (отличить пешехода от велосипедиста на видео), его выводят из примеров. Спросите: какие задачи из вашей жизни лучше решать правилами, а какие – примерами?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Дайте определение: машинное обучение – это способ научить компьютер решать задачу на опыте, на примерах данных, а не по пошаговой инструкции. Расскажите аналогию из статьи Яндекс Практикума: двухлетнего ребенка отправили за килограммом картошки. Сначала его надо научить отличать картошку от других овощей, понимать, что такое килограмм, соотносить количество и цену – и даже с хорошими объяснениями с первого раза вряд ли получится. Нужен опыт, много попыток. Алгоритму машинного обучения тоже нужно много примеров. Главная мысль слайда – правая карточка: модель ценна только тогда, когда правильно отвечает на новых объектах. Это называется обобщающей способностью, и все разговоры про выборки в разделе 03 – о том, как ее честно проверить.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линии времени. 1958 – Фрэнк Розенблатт построил перцептрон, первую искусственную нейросеть, которая распознавала образы. 1959 – Артур Сэмюэл из IBM придумал сам термин «машинное обучение»: его программа для шашек играла сама с собой и училась на своих партиях. 1996–1997 – компьютер IBM Deep Blue сначала выиграл у Гарри Каспарова партию, а через год и матч. 2014 – Facebook представил DeepFace для распознавания лиц. 2020 – AlphaFold от DeepMind научился предсказывать форму белков по их составу – задача, над которой биологи бились полвека. Спросите: что изменилось между 1958 и 2020 годами, почему идеи 60-летней давности заработали только сейчас? (Ответ: появилось много данных и быстрые компьютеры, в том числе видеокарты.)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Эти три слова часто путают. Искусственный интеллект – самое широкое понятие: все технологии, которые решают «интеллектуальные» задачи, в том числе программы с заранее заданными правилами. Машинное обучение – часть ИИ, где правила не задаются, а выводятся из данных. Глубокое обучение – часть машинного обучения на многослойных нейросетях: классическим методам признаки готовит человек, а глубокие сети умеют извлекать их сами из больших массивов данных – например, из пикселей картинки. В 9 классе мы изучаем классическое машинное обучение, в 10 – глубокое. Спросите: шахматная программа, которая перебирает ходы по правилам, – это ИИ? Машинное обучение? (ИИ, но не обязательно машинное обучение.)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Разберите три карточки. Обучение с учителем: для каждого примера известен правильный ответ – данные размечены. Чтобы научить беспилотник находить машины, люди обводят рамкой каждую машину на тысячах кадров. Задачи: классификация (ответ – класс) и регрессия (ответ – число). Обучение без учителя: ответов нет, модель сама ищет закономерности – например, интернет-магазин замечает, что одни покупатели каждый месяц берут подгузники и игрушки, и относит их к группе «родители»; это кластеризация. Обучение с подкреплением: модель действует и получает награду или штраф – так учатся игровые программы и роботы, которые пробуют открыть дверь и постепенно осваивают ручки разной формы. В этом блоке мы занимаемся обучением с учителем, кластеризация будет в Блоке 2. Спросите: к какому виду относится рекомендация музыки? (Чаще всего с учителем: ответ – поставил ли человек лайк.)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Пройдитесь по шести карточкам и попросите учеников добавить свои примеры. Банки: скоринг – модель по анкете оценивает, вернет ли человек кредит. Медицина: AlphaFold предсказывает форму белков, модели находят опухоли на снимках. Маркетинг: рекомендации музыки и товаров, магазины без касс. Сельское хозяйство: прогноз урожая, расчет удобрений по составу почвы. Безопасность: поиск мошеннических операций. Транспорт – наша сквозная тема: беспилотник распознает пешеходов и машины, оценивает тормозной путь, прогнозирует, куда пойдет пешеход. Подчеркните: за каждым примером стоят данные с ответами, собранные людьми.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02. Модель учится только на том, что ей показали. Поэтому сначала разберемся, как устроены данные и как их хранить в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Объект – то, про что хотим узнать: здесь объект на дороге. Признаки – числа, которые мы про него знаем: скорость, длина, высота, расстояние. Ответ – то, что хотим предсказать: класс объекта. В таблице три первых объекта из данных практики. Подчеркните: признаковое описание – все, что модель знает об объекте; чего нет в признаках, того для модели не существует. Справа – как это хранится в Python: X – список объектов, каждый объект – список чисел; y – список ответов. Главное правило: пара X[i], y[i] неразрывна. Если переставлять объекты, ответы переставляем так же, иначе модель будет учиться на мусоре. Спросите: чему равно X[2][1]? (4.51 – длина третьего объекта.) Какого размера X для 300 объектов? (300 строк по 4 числа.)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Две главные задачи обучения с учителем на данных нашей практики. Слева классификация: ответ – один из конечного набора классов (пешеход, велосипедист, автомобиль), классы кодируем числами 0, 1, 2. Видно, что по длине машины хорошо отделяются, а пешеходы и велосипедисты перекрываются. Справа регрессия: ответ – число, тормозной путь в метрах в зависимости от скорости. Точки не лежат на гладкой кривой: к физической формуле добавлен шум – ветер, уклон, износ шин. Пунктир – самый глупый прогноз «всегда средний путь», к нему вернемся на слайде 21. Спросите: время прибытия автобуса – классификация или регрессия? А «опоздает / не опоздает»? (Регрессия и классификация – одна ситуация, разные вопросы.)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Работа специалиста по машинному обучению – это не только модель. Пять этапов: 1) сбор данных – решаем, что нужно знать про объект, договариваемся с заказчиком; 2) разметка – для каждого примера нужен правильный ответ: люди обводят объекты рамками, эксперты проверяют спорные случаи (например, врач подтверждает, что на снимке опухоль, а не засвет); это долго, дорого и полностью не автоматизируется; 3) исследовательский анализ – смотрим распределения признаков, ищем ошибки и странные значения; 4) обучение – пробуем несколько алгоритмов; 5) тестирование и оценка – сравниваем модели и решаем, что дальше: собрать данные, поменять настройки или взять другой алгоритм. Обратите внимание: модель – только четвертый этап. Практика сегодня покрывает этапы 1, 3 и подготовку к 4 и 5. Этапы по статье Яндекс Практикума.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Этап анализа на наших данных: для каждого признака считаем среднее по классам. Длина: 0,69 м у пешеходов, 1,75 у велосипедистов, 3,60 у автомобилей – признак явно полезен. Скорость: 5,3 / 14,1 / 15,2 км/ч – пешехода отличает, а велосипедиста от машины в городе почти нет. Расстояние до объекта: 43,7 / 44,0 / 44,1 м – почти одинаково у всех, признак бесполезен. Так и задумано в генераторе: расстояние от класса не зависит. Правило: если среднее признака почти одинаково у всех классов, признак, скорее всего, не помогает их различать (обратное не всегда верно, но для начала хорошая проверка). Формулы среднего и разброса – в теории ноутбука. Задание 4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03 – главный на сегодня. Вопрос: как узнать, хорошо ли модель будет работать на новых объектах, если новых объектов у нас нет? Ответ: отложить часть данных и не показывать их модели до самого конца.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из практики. Модель-зубрила просто запоминает все обучающие объекты с ответами в словаре. Если спросить ее про знакомый объект – ответит без ошибки; про незнакомый – ответит самым частым классом. На обучающей выборке точность 1,0 – идеально. На тестовой – 0,289, ровно как у модели «всегда отвечай автомобиль»: ни одного тестового объекта она раньше не видела. Спросите: на каком экзамене зубрила сдаст на пятерку? (Если билеты совпадают с тем, что он выучил.) Вывод: точность на обучающих данных ничего не говорит о качестве. Нужно проверять на данных, которых модель не видела. Задание 7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Делим данные на три части. Обучающая выборка – по ней модель учится, как ученик по задачам из учебника. Валидационная – по ней выбираем настройки модели, как пробный экзамен. Тестовая – оцениваем качество один раз в конце, как настоящий экзамен; его не пересдают. Числа из практики: 300 объектов, 30 % в тест – 90 объектов, 210 в обучение; от обучения еще 30 % на валидацию – 63, остается 147. Формула: в тест идет int(N · test_size) объектов – целая часть произведения. Спросите: почему нельзя подбирать настройки по тесту? (Мы подгоним модель под экзамен, и его оценка станет слишком хорошей.) Задание 5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две полоски: каждый квадрат – пятый по счету объект данных, цвет – класс. Верхняя: данные записаны по порядку, как их часто и хранят, – сначала все пешеходы, потом велосипедисты, потом машины. Если без перемешивания отрезать последние 30 %, в тест попадут 90 автомобилей и больше ничего, а в обучении останется всего 10 машин. Такая проверка бессмысленна. Нижняя полоска – после перемешивания: классы идут вперемешку. Перемешивают не сами объекты, а их номера – по одному списку номеров собирают и X, и y, поэтому пары не разрываются. Алгоритм Фишера – Йейтса: идем с конца, на шаге i выбираем случайное j от 0 до i и меняем элементы местами. Его ученики напишут сами в задании 2 и увидят, что он совпадает с random.shuffle. Для реальных данных беспилотника, записанных по заездам, иногда специально делят по заездам целиком – это разговор для старших классов.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Эксперимент из практики: оставим всех пешеходов и автомобили, но только 10 велосипедистов – меньше 5 % данных. При обычном случайном разбиении 30 % в тест попадает то 1, то 6 велосипедистов, в зависимости от зерна (серые столбики). При одном велосипедисте в тесте одна ошибка – это 100 % ошибок по классу; при неудачном зерне их могло не оказаться вовсе. Стратифицированное разбиение делит каждый класс отдельно: из 10 велосипедистов в тест всегда идут int(10 · 0,3) = 3 (золотые столбики), доли классов в обучении и тесте совпадают. Свяжите с беспилотником: редкие, но опасные объекты – ребенок, животное, упавший груз – должны быть и в обучении, и в тесте. Задание 6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Утечка – когда информация из теста попадает в обучение, и оценка становится слишком хорошей и лживой. Эксперимент из практики: представим, что каждый объект записали дважды (два датчика прислали один и тот же кадр). После разбиения 134 из 180 тестовых объектов оказались и в обучении. Зубрила, который на честных данных давал 0,289, теперь «сдает экзамен» на 0,811 – не научившись ничему, просто узнав знакомые билеты. Три частых источника утечки: одинаковые объекты по обе стороны разбиения (дубли, соседние кадры одного видео); нормализация признаков по всем данным вместо обучающих (разберем в работе по kNN); подбор настроек по тесту. Лекарство: удалять дубликаты до разбиения, считать все по обучающей выборке и проверять пересечение, как функция count_leaks в задании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Прежде чем радоваться качеству модели, нужно знать, сколько можно получить «даром». Модель-ориентир – самая глупая модель, которая все равно что-то угадывает. Для классификации – всегда отвечать самым частым классом обучающей выборки: у нас это автомобиль (74 из 210), на тесте такая модель дает точность 0,289. Для регрессии – всегда отвечать средним: средний тормозной путь в обучении 45,1 м, типичная ошибка на тесте (RMSE) 34,0 м. Для сравнения: в работе по kNN настоящая модель ошибается в среднем на 6,5 м – в пять раз лучше ориентира. Любая модель обязана обгонять ориентир; точность 0,5 кажется неплохой, но если ориентир дает 0,6 – модель хуже угадывания. Формулы accuracy, MSE, RMSE – в ноутбуке. Задания 7 и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04. Практика устроена так же, как следующие: пишем функции сами, только встроенный Python и модуль random. После этой работы в готовой ячейке, с которой начинаются работы по kNN и другим моделям, не останется ни одной непонятной строки – она будет совпадать с кодом учеников до последнего числа.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плану. Задание 1 – генератор замеров тормозного пути: формула плюс шум, зерно генератора. Задание 2 – перемешивание Фишера – Йейтса, сверка с random.shuffle. Задание 3 – генератор объектов беспилотника (главное задание). Задание 4 – разведка: столбец, среднее и разброс, число объектов по классам, средние по классам. Задание 5 – train_test_split (главное задание): 210 и 90 объектов, первый обучающий объект [37.1, 4.52, 1.78, 77.9] – ровно как в работе по kNN. Задание 6 – стратифицированное разбиение. Задание 7 – ориентир, зубрила и утечка. Задание 8 – ориентир для регрессии. Правило работы: только встроенный Python и random через свой генератор; после каждой функции – строки «ожидается», по которым ученик проверяет себя сам.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Попросите двух-трех учеников своими словами объяснить, чем машинное обучение отличается от программирования и зачем делить данные на выборки. Пройдитесь по шести пунктам. Анонсируйте следующее занятие: первая настоящая модель – метод k ближайших соседей, которая работает на тех самых данных, что ученики сгенерировали сегодня.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6012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 «ИСКУССТВЕННЫЙ ИНТЕЛЛЕКТ» · 9 КЛАСС</a:t>
            </a:r>
            <a:endParaRPr lang="en-US" sz="80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2801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машинное обучение: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данные, признаки, выборки</a:t>
            </a:r>
            <a:endParaRPr lang="en-US" sz="2600" dirty="0"/>
          </a:p>
        </p:txBody>
      </p:sp>
      <p:sp>
        <p:nvSpPr>
          <p:cNvPr id="6" name="Shape 2"/>
          <p:cNvSpPr/>
          <p:nvPr/>
        </p:nvSpPr>
        <p:spPr>
          <a:xfrm>
            <a:off x="457200" y="3611880"/>
            <a:ext cx="457200" cy="402336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57200" y="3611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51560" y="3657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Инженерная школа «УникУм», КузГТУ им. Т. Ф. Горбачева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0624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754880" y="1097280"/>
            <a:ext cx="548640" cy="482803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5" name="Text 1"/>
          <p:cNvSpPr txBox="1"/>
          <p:nvPr/>
        </p:nvSpPr>
        <p:spPr>
          <a:xfrm>
            <a:off x="4754880" y="1097280"/>
            <a:ext cx="548640" cy="4828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16916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«Напишите правило, по которому беспилотник отличит пешехода от велосипедиста»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30175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 скорость и длина объекта. Серые точки – пешеходы, белые – велосипедисты. Попробуйте сформулировать «если …, то …» – и найдите к нему контрпример.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sec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такое машинное обучение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из примеров, виды обучения и где это работает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ПОДХОДЫ К ЗАДАЧЕ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способа получить программу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82296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Программирование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6916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пишет правило, компьютер его исполняет. Работает, когда правило известно и просто.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566160" y="1600200"/>
            <a:ext cx="1143000" cy="45720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6616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6002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92040" y="1600200"/>
            <a:ext cx="1143000" cy="45720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92040" y="16002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720840" y="1600200"/>
            <a:ext cx="1737360" cy="457200"/>
          </a:xfrm>
          <a:prstGeom prst="rect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20840" y="1600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68580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29184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дает примеры с ответами, компьютер сам находит правило – модель.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566160" y="3200400"/>
            <a:ext cx="1143000" cy="457200"/>
          </a:xfrm>
          <a:prstGeom prst="rect">
            <a:avLst/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66160" y="3200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709160" y="32004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892040" y="3200400"/>
            <a:ext cx="1143000" cy="457200"/>
          </a:xfrm>
          <a:prstGeom prst="rect">
            <a:avLst/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32004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172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720840" y="3200400"/>
            <a:ext cx="1737360" cy="457200"/>
          </a:xfrm>
          <a:prstGeom prst="rect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72084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Найденное правило называется моделью. Дальше ее применяют к новым данным.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ОПРЕДЕЛЕНИЕ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Учиться на опыте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931920" cy="210312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73736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способ научить компьютер решать задачу на опыте – на примерах данных, а не по пошаговой инструкции. Система сама учится распознавать объекты, делать прогнозы и относить объекты к классам.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1143000"/>
            <a:ext cx="3931920" cy="21031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983480" y="132588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83480" y="132588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1371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Обобщающая способность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874520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ценна, только если правильно отвечает на новых объектах, которых не видела. Выучить ответы наизусть – не значит научиться.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3657600"/>
            <a:ext cx="502920" cy="442570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365760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5661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Двухлетнего ребенка отправили за килограммом картошки. Сначала надо научить его отличать картошку от других овощей, понимать килограмм и цену – и с первого раза вряд ли получится. Нужен опыт. Модели тоже.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Короткая история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822960" y="2011680"/>
            <a:ext cx="7498080" cy="0"/>
          </a:xfrm>
          <a:prstGeom prst="line">
            <a:avLst/>
          </a:prstGeom>
          <a:noFill/>
          <a:ln w="25400">
            <a:solidFill>
              <a:srgbClr val="B8AB8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178308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7830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1958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Перцептрон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Розенблатт строит первую нейросеть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651760" y="178308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51760" y="17830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1959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214884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Термин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19456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Сэмюэл: шашки, которые учатся сами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43400" y="178308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43400" y="17830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84048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1997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384048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Blue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88620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 выигрывает матч у Каспарова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035040" y="178308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35040" y="17830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DeepFace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57784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Распознавание лиц в соцсети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26680" y="1783080"/>
            <a:ext cx="502920" cy="442570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726680" y="17830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223760" y="24231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2020</a:t>
            </a:r>
            <a:endParaRPr 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7223760" y="288036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AlphaFold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32004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белков по их составу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3977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старые – заработали, когда появились большие данные и быстрые компьютеры.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ИИ, машинное обучение, глубокое обучение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206240" cy="3291840"/>
          </a:xfrm>
          <a:prstGeom prst="ellipse">
            <a:avLst/>
          </a:prstGeom>
          <a:solidFill>
            <a:srgbClr val="F2F1ED"/>
          </a:solidFill>
          <a:ln w="12700">
            <a:solidFill>
              <a:srgbClr val="E2E2E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88720" y="1828800"/>
            <a:ext cx="3200400" cy="2468880"/>
          </a:xfrm>
          <a:prstGeom prst="ellipse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0" y="2606040"/>
            <a:ext cx="2194560" cy="1600200"/>
          </a:xfrm>
          <a:prstGeom prst="ellipse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Искусственный интеллект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19456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Глубокое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1188720"/>
            <a:ext cx="411480" cy="36210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18872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5623560" y="11704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ИИ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14813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технологии для «интеллектуальных» задач, в том числе с готовыми правилами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0" y="224028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0" y="22402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5623560" y="2221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Машинное обучение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623560" y="2532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выводятся из данных. Признаки готовит человек – 9 класс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0" y="3291840"/>
            <a:ext cx="411480" cy="36210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029200" y="329184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623560" y="32735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Глубокое обучение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623560" y="35844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Многослойные нейросети сами извлекают признаки из сырых данных – 10 класс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ВИДЫ ОБУЧЕНИЯ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вида обучения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15184" cy="283464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учителем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известны: данные размечены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Люди обвели рамкой машины на тысячах кадров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0080" y="3474720"/>
            <a:ext cx="2240280" cy="320040"/>
          </a:xfrm>
          <a:prstGeom prst="roundRect">
            <a:avLst>
              <a:gd name="adj" fmla="val 14286"/>
            </a:avLst>
          </a:prstGeom>
          <a:solidFill>
            <a:srgbClr val="33333A"/>
          </a:solidFill>
          <a:ln w="12700">
            <a:solidFill>
              <a:srgbClr val="3333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классификация, регрессия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64408" y="118872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47288" y="137160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47288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3447288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учителя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447288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Ответов нет: модель сама ищет группы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447288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Магазин находит группу покупателей «родители»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447288" y="3474720"/>
            <a:ext cx="2240280" cy="32004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447288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кластеризация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71616" y="1188720"/>
            <a:ext cx="261518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54496" y="137160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54496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6254496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подкреплением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254496" y="2286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Действие – награда или штраф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6254496" y="2788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 учится открывать двери, программа – играть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254496" y="3474720"/>
            <a:ext cx="2240280" cy="320040"/>
          </a:xfrm>
          <a:prstGeom prst="roundRect">
            <a:avLst>
              <a:gd name="adj" fmla="val 14286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54496" y="34747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игры, роботы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этом блоке – обучение с учителем. Кластеризация – Блок 2.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ПРИМЕНЕНИЕ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уже работает машинное обучение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15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Банки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Скоринг: вернет ли человек кредит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4408" y="1143000"/>
            <a:ext cx="2615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47288" y="137160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447288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4041648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Медицина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344728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белков, поиск опухолей на снимках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71616" y="1143000"/>
            <a:ext cx="2615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54496" y="137160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54496" y="137160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848856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25449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музыки и товаров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2615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288036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0080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23444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Сельское хозяйство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урожая, расчет удобрений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264408" y="2651760"/>
            <a:ext cx="2615184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447288" y="288036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47288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4041648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3447288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мошеннических операций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71616" y="2651760"/>
            <a:ext cx="2615184" cy="132588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54496" y="288036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254496" y="28803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848856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Беспилотники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6254496" y="3429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Пешеходы, машины, тормозной путь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sec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Данные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Объекты, признаки, ответы и пять этапов работы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Таблица «объект – признак»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521208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051560"/>
                <a:gridCol w="822960"/>
                <a:gridCol w="822960"/>
                <a:gridCol w="100584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скорость, км/ч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длина, 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высота, 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расстояние, 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ответ 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AB8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22.2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2.07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1.50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56.8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велосипедист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5.7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1.86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64.4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пешеход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8F82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15.9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4.51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0.97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C1C2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41.7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C1C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автомобиль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1E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777240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признаки – столбцы X</a:t>
            </a:r>
            <a:endParaRPr lang="en-US" sz="900" dirty="0"/>
          </a:p>
        </p:txBody>
      </p:sp>
      <p:sp>
        <p:nvSpPr>
          <p:cNvPr id="7" name="Text 3"/>
          <p:cNvSpPr txBox="1"/>
          <p:nvPr/>
        </p:nvSpPr>
        <p:spPr>
          <a:xfrm>
            <a:off x="4480560" y="25146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таблицы: одна машина, один человек</a:t>
            </a:r>
            <a:endParaRPr lang="en-US" sz="950" dirty="0"/>
          </a:p>
        </p:txBody>
      </p:sp>
      <p:sp>
        <p:nvSpPr>
          <p:cNvPr id="10" name="Text 6"/>
          <p:cNvSpPr txBox="1"/>
          <p:nvPr/>
        </p:nvSpPr>
        <p:spPr>
          <a:xfrm>
            <a:off x="224028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Признак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224028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про объект; чего нет в признаках, того нет для модели</a:t>
            </a:r>
            <a:endParaRPr lang="en-US" sz="950" dirty="0"/>
          </a:p>
        </p:txBody>
      </p:sp>
      <p:sp>
        <p:nvSpPr>
          <p:cNvPr id="12" name="Text 8"/>
          <p:cNvSpPr txBox="1"/>
          <p:nvPr/>
        </p:nvSpPr>
        <p:spPr>
          <a:xfrm>
            <a:off x="4023360" y="2926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02336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то, что предсказываем: класс или число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943600" y="1143000"/>
            <a:ext cx="2743200" cy="28346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26480" y="125272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ХРАНИТСЯ В КОДЕ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6126480" y="150876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[[22.2, 2.07, 1.50, 56.8],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[ 5.7, 0.77, 1.86, 64.4],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[15.9, 4.51, 0.97, 41.7]]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[1, 0, 2]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X[2][1]   # 4.51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len(X)    # 3 объекта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X[i] и y[i] – одна пара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Пару X[i], y[i] никогда не разрываем.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9" name="Text 1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и регрессия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ml1/img/c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88720"/>
            <a:ext cx="3749040" cy="25511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3794760"/>
            <a:ext cx="411480" cy="36210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" y="37947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– класс: 0 пешеход, 1 велосипедист, 2 автомобиль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63440" y="1097280"/>
            <a:ext cx="402336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/home/claude/ml1/img/re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188720"/>
            <a:ext cx="3749040" cy="25511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46320" y="379476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4846320" y="37947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0"/>
          <p:cNvSpPr txBox="1"/>
          <p:nvPr/>
        </p:nvSpPr>
        <p:spPr>
          <a:xfrm>
            <a:off x="5394960" y="37673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539496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– число: тормозной путь в метрах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ЖИЗНЕННЫЙ ЦИКЛ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этапов работы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14996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141732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Сбор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данные нужны и что важно знать про объект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1956816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39696" y="1234440"/>
            <a:ext cx="14996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76856" y="141732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76856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276856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Разметка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276856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 для каждого примера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3639312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822192" y="1234440"/>
            <a:ext cx="14996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959352" y="141732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59352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3959352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Анализ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959352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Распределения, ошибки, странные значения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5321808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504688" y="1234440"/>
            <a:ext cx="1499616" cy="224028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41848" y="1417320"/>
            <a:ext cx="457200" cy="402336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41848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5641848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641848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алгоритмов, выбор лучшего</a:t>
            </a:r>
            <a:endParaRPr lang="en-US" sz="950" dirty="0"/>
          </a:p>
        </p:txBody>
      </p:sp>
      <p:sp>
        <p:nvSpPr>
          <p:cNvPr id="28" name="Text 25"/>
          <p:cNvSpPr txBox="1"/>
          <p:nvPr/>
        </p:nvSpPr>
        <p:spPr>
          <a:xfrm>
            <a:off x="7004304" y="210312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7187184" y="1234440"/>
            <a:ext cx="1499616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7324344" y="1417320"/>
            <a:ext cx="457200" cy="402336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324344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7324344" y="20116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7324344" y="237744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 отложенных данных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85800" y="3749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– только четвертый этап.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Сегодня на практике: сбор (генераторы данных), анализ и подготовка выборок для обучения и оценки.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37" name="Text 3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ИССЛЕДОВАТЕЛЬСКИЙ АНАЛИЗ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Смотрим на данные до модели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1097280"/>
            <a:ext cx="2926080" cy="91440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5943600" y="120700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0.69 · 1.75 · 3.60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длина, м – полезный признак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760720" y="2148840"/>
            <a:ext cx="2926080" cy="91440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943600" y="22585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 · 14.1 · 15.2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скорость, км/ч – отделяет пешеходов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760720" y="3200400"/>
            <a:ext cx="2926080" cy="91440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5943600" y="331012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43.7 · 44.0 · 44.1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594360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расстояние, м – бесполезен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4251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средние по классам: пешеход · велосипедист · автомобиль</a:t>
            </a:r>
            <a:endParaRPr lang="en-US" sz="8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7" name="Text 13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sec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Выборки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честно проверить, что модель научилась, а не запомнила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ОБОБЩАЮЩАЯ СПОСОБНОСТЬ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Модель-зубрила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606040" cy="19202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обучающей выборке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запомнила все ответы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46120" y="1188720"/>
            <a:ext cx="2606040" cy="192024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47472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0.289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на новых объектах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 ответа «всегда автомобиль»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1188720"/>
            <a:ext cx="2651760" cy="19202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2984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ЗУБРИЛА В КОДЕ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1572768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{}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x, c in zip(X, y):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model[tuple(x)] = 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model.get(tuple(x_new),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default)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611880"/>
            <a:ext cx="502920" cy="442570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611880"/>
            <a:ext cx="502920" cy="442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42900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Выучить ответы – не значит научиться. </a:t>
            </a:r>
            <a:pPr indent="0" marL="0">
              <a:buNone/>
            </a:pPr>
            <a:r>
              <a:rPr lang="en-US" sz="11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модели проверяют только на данных, которых она не видела при обучении.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Обучающая, валидационная, тестовая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4032504" cy="914400"/>
          </a:xfrm>
          <a:prstGeom prst="rect">
            <a:avLst/>
          </a:prstGeom>
          <a:solidFill>
            <a:srgbClr val="F2F1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261872"/>
            <a:ext cx="375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73736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489704" y="1188720"/>
            <a:ext cx="1728216" cy="914400"/>
          </a:xfrm>
          <a:prstGeom prst="rect">
            <a:avLst/>
          </a:prstGeom>
          <a:solidFill>
            <a:srgbClr val="B8AB8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26864" y="1261872"/>
            <a:ext cx="14538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626864" y="1737360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1188720"/>
            <a:ext cx="2468880" cy="914400"/>
          </a:xfrm>
          <a:prstGeom prst="rect">
            <a:avLst/>
          </a:prstGeom>
          <a:solidFill>
            <a:srgbClr val="1C1C2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55080" y="1261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94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объектов беспилотника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2651760"/>
            <a:ext cx="411480" cy="362102"/>
          </a:xfrm>
          <a:prstGeom prst="hexagon">
            <a:avLst/>
          </a:prstGeom>
          <a:solidFill>
            <a:srgbClr val="E2E2E6"/>
          </a:solidFill>
          <a:ln w="12700">
            <a:solidFill>
              <a:srgbClr val="E2E2E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6517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Обучение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учебник: по нему модель учится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64408" y="265176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264408" y="26517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813048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3813048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пробный экзамен: выбираем настройки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071616" y="2651760"/>
            <a:ext cx="411480" cy="362102"/>
          </a:xfrm>
          <a:prstGeom prst="hexagon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71616" y="265176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2"/>
          <p:cNvSpPr txBox="1"/>
          <p:nvPr/>
        </p:nvSpPr>
        <p:spPr>
          <a:xfrm>
            <a:off x="6620256" y="2651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620256" y="29443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экзамен: один раз в конце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5800" y="36576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n_test = int(N · test_size) = int(300 · 0.3) = 90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0" y="365760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– один раз. Все подборы – на валидации.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Сначала перемешать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порядку</a:t>
            </a:r>
            <a:endParaRPr lang="en-US" sz="1200" dirty="0"/>
          </a:p>
        </p:txBody>
      </p:sp>
      <p:pic>
        <p:nvPicPr>
          <p:cNvPr id="6" name="Image 0" descr="/home/claude/ml1/img/strip_sor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486400" cy="6172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297680" y="1344168"/>
            <a:ext cx="1673352" cy="667512"/>
          </a:xfrm>
          <a:prstGeom prst="rect">
            <a:avLst/>
          </a:prstGeom>
          <a:ln w="19050">
            <a:solidFill>
              <a:srgbClr val="8F8260"/>
            </a:solidFill>
            <a:prstDash val="dash"/>
          </a:ln>
        </p:spPr>
      </p:sp>
      <p:sp>
        <p:nvSpPr>
          <p:cNvPr id="8" name="Text 4"/>
          <p:cNvSpPr txBox="1"/>
          <p:nvPr/>
        </p:nvSpPr>
        <p:spPr>
          <a:xfrm>
            <a:off x="3291840" y="205740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90 автомобилей, 0 пешеходов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перемешивания</a:t>
            </a:r>
            <a:endParaRPr lang="en-US" sz="1200" dirty="0"/>
          </a:p>
        </p:txBody>
      </p:sp>
      <p:pic>
        <p:nvPicPr>
          <p:cNvPr id="10" name="Image 1" descr="/home/claude/ml1/img/strip_shuff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7480"/>
            <a:ext cx="5486400" cy="6172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297680" y="2670048"/>
            <a:ext cx="1673352" cy="667512"/>
          </a:xfrm>
          <a:prstGeom prst="rect">
            <a:avLst/>
          </a:prstGeom>
          <a:ln w="19050">
            <a:solidFill>
              <a:srgbClr val="8F8260"/>
            </a:solidFill>
            <a:prstDash val="dash"/>
          </a:ln>
        </p:spPr>
      </p:sp>
      <p:sp>
        <p:nvSpPr>
          <p:cNvPr id="12" name="Text 7"/>
          <p:cNvSpPr txBox="1"/>
          <p:nvPr/>
        </p:nvSpPr>
        <p:spPr>
          <a:xfrm>
            <a:off x="3291840" y="33832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тест: 33 · 31 · 26</a:t>
            </a:r>
            <a:endParaRPr lang="en-US" sz="900" dirty="0"/>
          </a:p>
        </p:txBody>
      </p:sp>
      <p:sp>
        <p:nvSpPr>
          <p:cNvPr id="13" name="Text 8"/>
          <p:cNvSpPr txBox="1"/>
          <p:nvPr/>
        </p:nvSpPr>
        <p:spPr>
          <a:xfrm>
            <a:off x="457200" y="3749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пешеход    </a:t>
            </a:r>
            <a:pPr indent="0" marL="0">
              <a:buNone/>
            </a:pPr>
            <a:r>
              <a:rPr lang="en-US" sz="900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велосипедист    </a:t>
            </a:r>
            <a:pPr indent="0" marL="0">
              <a:buNone/>
            </a:pPr>
            <a:r>
              <a:rPr lang="en-US" sz="90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автомобиль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6263640" y="1097280"/>
            <a:ext cx="2423160" cy="32918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6446520" y="12070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ФИШЕР – ЙЕЙТС</a:t>
            </a:r>
            <a:endParaRPr lang="en-US" sz="750" dirty="0"/>
          </a:p>
        </p:txBody>
      </p:sp>
      <p:sp>
        <p:nvSpPr>
          <p:cNvPr id="16" name="Text 11"/>
          <p:cNvSpPr txBox="1"/>
          <p:nvPr/>
        </p:nvSpPr>
        <p:spPr>
          <a:xfrm>
            <a:off x="6446520" y="15087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 = list(range(n))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range(n-1, 0, -1):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 = rnd.randrange(i+1)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idx[i], idx[j] = \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idx[j], idx[i]</a:t>
            </a:r>
            <a:endParaRPr lang="en-US" sz="800" dirty="0"/>
          </a:p>
        </p:txBody>
      </p:sp>
      <p:sp>
        <p:nvSpPr>
          <p:cNvPr id="17" name="Text 12"/>
          <p:cNvSpPr txBox="1"/>
          <p:nvPr/>
        </p:nvSpPr>
        <p:spPr>
          <a:xfrm>
            <a:off x="6446520" y="301752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Перемешиваем номера, а не объекты: по одним номерам собираем X и y – пары не разрываются.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9" name="Text 1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Редкий класс: стратификация</a:t>
            </a:r>
            <a:endParaRPr lang="en-US" sz="2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515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943600" y="1143000"/>
            <a:ext cx="2743200" cy="96012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6126480" y="12344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из 210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61264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велосипедистов в данных – меньше 5 %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943600" y="2240280"/>
            <a:ext cx="2743200" cy="96012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612648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 1 до 6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126480" y="2788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тесте при обычном разбиении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5943600" y="3337560"/>
            <a:ext cx="2743200" cy="9601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612648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всегда 3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38679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стратификации: каждый класс делим отдельно</a:t>
            </a:r>
            <a:endParaRPr lang="en-US" sz="95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16" name="Text 12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Утечка данных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011680" cy="155448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0.289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зубрила, честное разбиение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606040" y="1143000"/>
            <a:ext cx="2011680" cy="155448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788920" y="12801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0.811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0116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зубрила, каждый объект записан дважды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8346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из 180 тестовых объектов уже были в обучении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154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ничему не научилась – она узнала знакомые билеты.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937760" y="1097280"/>
            <a:ext cx="411480" cy="36210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37760" y="1097280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Дубли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1371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Одинаковые объекты или соседние кадры одного видео по разные стороны разбиения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37760" y="1993392"/>
            <a:ext cx="411480" cy="36210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37760" y="1993392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Нормализация по всем данным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0" y="22677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и max считают только по обучающей выборке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937760" y="2889504"/>
            <a:ext cx="411480" cy="362102"/>
          </a:xfrm>
          <a:prstGeom prst="hexagon">
            <a:avLst/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2889504"/>
            <a:ext cx="4114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0" y="2871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Подбор по тесту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0" y="3163824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Настройки выбирают на валидации, тест – один раз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оценка подозрительно хорошая – ищите утечку.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чем сравнивать: модель-ориентир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265176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4008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самый частый класс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0.289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на тесте: «всегда автомобиль»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143000"/>
            <a:ext cx="2651760" cy="237744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7472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Регрессия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всегда среднее обучающих ответов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103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34.0 м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2880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на тесте: «всегда 45.1 м»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17920" y="1143000"/>
            <a:ext cx="2468880" cy="2377440"/>
          </a:xfrm>
          <a:prstGeom prst="rect">
            <a:avLst/>
          </a:prstGeom>
          <a:solidFill>
            <a:srgbClr val="F2F1ED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00800" y="13258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8F82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 м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011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настоящей модели kNN на тех же данных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5 раз лучше ориентира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1C1C22"/>
          </a:solidFill>
          <a:ln w="12700">
            <a:solidFill>
              <a:srgbClr val="1C1C2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7490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A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Модель, которая не обгоняет ориентир, бесполезна.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Считайте ориентир до любой модели.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home/claude/ml1/img/se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0"/>
            <a:ext cx="4937760" cy="51435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868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данные своими руками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Все, что стоит в готовой ячейке следующих работ, пишем сами</a:t>
            </a:r>
            <a:endParaRPr lang="en-US" sz="10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8" name="Text 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 ПРАКТИКИ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Восемь заданий – одна готовая ячейка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" y="12344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12344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make_braking</a:t>
            </a:r>
            <a:endParaRPr lang="en-US" sz="8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280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Тормозной путь: формула + шум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70048" y="12344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670048" y="12344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2670048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shuffle_indices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3154680" y="1280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Фишер – Йейтс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1097280"/>
            <a:ext cx="1965960" cy="11887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73168" y="12344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73168" y="12344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73168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make_road_objects</a:t>
            </a:r>
            <a:endParaRPr lang="en-US" sz="800" dirty="0"/>
          </a:p>
        </p:txBody>
      </p:sp>
      <p:sp>
        <p:nvSpPr>
          <p:cNvPr id="19" name="Text 16"/>
          <p:cNvSpPr txBox="1"/>
          <p:nvPr/>
        </p:nvSpPr>
        <p:spPr>
          <a:xfrm>
            <a:off x="5257800" y="1280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беспилотника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66560" y="10972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76288" y="12344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876288" y="12344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6876288" y="16459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· class_counts</a:t>
            </a:r>
            <a:endParaRPr lang="en-US" sz="80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12801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Разведка данных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2468880"/>
            <a:ext cx="1965960" cy="1188720"/>
          </a:xfrm>
          <a:prstGeom prst="rect">
            <a:avLst/>
          </a:prstGeom>
          <a:solidFill>
            <a:srgbClr val="1C1C22"/>
          </a:solidFill>
          <a:ln w="9525">
            <a:solidFill>
              <a:srgbClr val="1C1C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6928" y="26060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6928" y="26060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B8AB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train_test_split</a:t>
            </a:r>
            <a:endParaRPr lang="en-US" sz="800" dirty="0"/>
          </a:p>
        </p:txBody>
      </p:sp>
      <p:sp>
        <p:nvSpPr>
          <p:cNvPr id="29" name="Text 26"/>
          <p:cNvSpPr txBox="1"/>
          <p:nvPr/>
        </p:nvSpPr>
        <p:spPr>
          <a:xfrm>
            <a:off x="105156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/ 90, как в kNN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560320" y="24688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670048" y="26060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70048" y="26060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267004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stratified_split</a:t>
            </a:r>
            <a:endParaRPr lang="en-US" sz="800" dirty="0"/>
          </a:p>
        </p:txBody>
      </p:sp>
      <p:sp>
        <p:nvSpPr>
          <p:cNvPr id="34" name="Text 31"/>
          <p:cNvSpPr txBox="1"/>
          <p:nvPr/>
        </p:nvSpPr>
        <p:spPr>
          <a:xfrm>
            <a:off x="315468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Редкий класс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63440" y="24688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73168" y="26060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73168" y="26060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5"/>
          <p:cNvSpPr txBox="1"/>
          <p:nvPr/>
        </p:nvSpPr>
        <p:spPr>
          <a:xfrm>
            <a:off x="477316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most_frequent ·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memorizer · leaks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525780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и утечка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766560" y="2468880"/>
            <a:ext cx="196596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6876288" y="2606040"/>
            <a:ext cx="384048" cy="337962"/>
          </a:xfrm>
          <a:prstGeom prst="hexagon">
            <a:avLst/>
          </a:prstGeom>
          <a:solidFill>
            <a:srgbClr val="B8AB84"/>
          </a:solidFill>
          <a:ln w="12700">
            <a:solidFill>
              <a:srgbClr val="B8AB84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876288" y="2606040"/>
            <a:ext cx="384048" cy="3379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1C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0"/>
          <p:cNvSpPr txBox="1"/>
          <p:nvPr/>
        </p:nvSpPr>
        <p:spPr>
          <a:xfrm>
            <a:off x="6876288" y="3017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1C1C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· mse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7360920" y="2651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Ориентир регрессии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встроенный Python и random через свой генератор. После каждой функции – строки «ожидается …».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57200" y="274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ЗАНЯТИЯ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остаться в голове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601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из примеров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+ ответы → модель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16128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вида обучения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55448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учителем, без учителя, с подкреплением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Объект, признаки, ответ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X[i] и y[i] – неразрывная пара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2971800" y="21945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22128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Выучить ≠ научиться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2606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– только на новых данных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9601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выборки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601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обучение, валидация, тест – один раз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971800" y="32461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8AB8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3264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Перемешать, стратифицировать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65760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утечек, с ориентиром</a:t>
            </a:r>
            <a:endParaRPr lang="en-US" sz="900" dirty="0"/>
          </a:p>
        </p:txBody>
      </p:sp>
      <p:pic>
        <p:nvPicPr>
          <p:cNvPr id="23" name="Image 0" descr="/home/claude/ml1/img/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868680"/>
            <a:ext cx="2926080" cy="3236976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57200" y="480060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E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класс · Тема 1 · Блок 1 · Что такое машинное обучение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822960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F8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Что такое машинное обучение</dc:title>
  <dc:subject>PptxGenJS Presentation</dc:subject>
  <dc:creator>PptxGenJS</dc:creator>
  <cp:lastModifiedBy>PptxGenJS</cp:lastModifiedBy>
  <cp:revision>1</cp:revision>
  <dcterms:created xsi:type="dcterms:W3CDTF">2026-09-25T07:13:06Z</dcterms:created>
  <dcterms:modified xsi:type="dcterms:W3CDTF">2026-09-25T07:13:06Z</dcterms:modified>
</cp:coreProperties>
</file>